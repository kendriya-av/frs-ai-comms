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A951"/>
                </a:solidFill>
                <a:latin typeface="Calibri"/>
              </a:defRPr>
            </a:pPr>
            <a:r>
              <a:t>FRBSF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Technical Excellence Highlights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A99"/>
                </a:solidFill>
                <a:latin typeface="Calibri"/>
              </a:defRPr>
            </a:pPr>
            <a:r>
              <a:t>Production-grade architecture, real AWS services, and end-to-end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A99"/>
                </a:solidFill>
                <a:latin typeface="Calibri"/>
              </a:defRPr>
            </a:pPr>
            <a:r>
              <a:t>Federal Reserve Bank of San Francisco  ·  AI Communications Intelligence System  ·  Amazon Comprehend + Bedrock (Claude)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A951"/>
                </a:solidFill>
                <a:latin typeface="Calibri"/>
              </a:defRPr>
            </a:pPr>
            <a:r>
              <a:t>ARCHITECTURE &amp; STACK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783080"/>
            <a:ext cx="36576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A1628"/>
                </a:solidFill>
                <a:latin typeface="Calibri"/>
              </a:defRPr>
            </a:pPr>
            <a:r>
              <a:t>Full-Stack Python Application</a:t>
            </a:r>
          </a:p>
          <a:p>
            <a:pPr>
              <a:spcAft>
                <a:spcPts val="200"/>
              </a:spcAft>
              <a:defRPr sz="400" b="0">
                <a:solidFill>
                  <a:srgbClr val="6B7A99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▸ Dash + Plotly — 15+ interactive pages, real-time charts</a:t>
            </a:r>
          </a:p>
          <a:p>
            <a:pPr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▸ Amazon Comprehend — NLP classification, sentiment, entities</a:t>
            </a:r>
          </a:p>
          <a:p>
            <a:pPr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▸ Amazon Bedrock (Claude 3) — LLM drafting, reports, risk analysis</a:t>
            </a:r>
          </a:p>
          <a:p>
            <a:pPr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▸ Pandas 3.x — data pipeline, merging, deduplication</a:t>
            </a:r>
          </a:p>
          <a:p>
            <a:pPr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▸ 13+ RSS feeds — live data from Fed, CNBC, Reuters, Bloomberg</a:t>
            </a:r>
          </a:p>
          <a:p>
            <a:pPr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▸ Zero API keys — all public data sources, no credentials needed</a:t>
            </a:r>
          </a:p>
          <a:p>
            <a:pPr>
              <a:spcAft>
                <a:spcPts val="200"/>
              </a:spcAft>
              <a:defRPr sz="900" b="0">
                <a:solidFill>
                  <a:srgbClr val="6B7A99"/>
                </a:solidFill>
                <a:latin typeface="Calibri"/>
              </a:defRPr>
            </a:pPr>
            <a:r>
              <a:t>▸ Single-file app (4000+ lines) with modular service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5087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A951"/>
                </a:solidFill>
                <a:latin typeface="Calibri"/>
              </a:defRPr>
            </a:pPr>
            <a:r>
              <a:t>AWS CLOUD INFRASTRUCTURE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783080"/>
            <a:ext cx="36576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82880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B65A6"/>
                </a:solidFill>
                <a:latin typeface="Calibri"/>
              </a:defRPr>
            </a:pPr>
            <a:r>
              <a:t>Fully Deployed on AWS (us-east-1)</a:t>
            </a:r>
          </a:p>
          <a:p>
            <a:pPr>
              <a:spcAft>
                <a:spcPts val="200"/>
              </a:spcAft>
              <a:defRPr sz="400" b="0">
                <a:solidFill>
                  <a:srgbClr val="6B7A99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▸ App Runner — managed container hosting, auto-scaling, HTTPS</a:t>
            </a:r>
          </a:p>
          <a:p>
            <a:pPr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▸ ECR — private Docker image registry</a:t>
            </a:r>
          </a:p>
          <a:p>
            <a:pPr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▸ CodeBuild — CI/CD pipeline (zip → Docker → ECR → deploy)</a:t>
            </a:r>
          </a:p>
          <a:p>
            <a:pPr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▸ S3 — source artifact storage for deployments</a:t>
            </a:r>
          </a:p>
          <a:p>
            <a:pPr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▸ IAM — 3 purpose-built roles (least privilege)</a:t>
            </a:r>
          </a:p>
          <a:p>
            <a:pPr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▸ No Docker locally — all builds run in CodeBuild</a:t>
            </a:r>
          </a:p>
          <a:p>
            <a:pPr>
              <a:spcAft>
                <a:spcPts val="200"/>
              </a:spcAft>
              <a:defRPr sz="900" b="0">
                <a:solidFill>
                  <a:srgbClr val="6B7A99"/>
                </a:solidFill>
                <a:latin typeface="Calibri"/>
              </a:defRPr>
            </a:pPr>
            <a:r>
              <a:t>▸ One-command deploy: zip → S3 → CodeBuild → App Runner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5087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A951"/>
                </a:solidFill>
                <a:latin typeface="Calibri"/>
              </a:defRPr>
            </a:pPr>
            <a:r>
              <a:t>STANDOUT FEATURES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783080"/>
            <a:ext cx="36576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82880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E7D32"/>
                </a:solidFill>
                <a:latin typeface="Calibri"/>
              </a:defRPr>
            </a:pPr>
            <a:r>
              <a:t>What Sets This Apart</a:t>
            </a:r>
          </a:p>
          <a:p>
            <a:pPr>
              <a:spcAft>
                <a:spcPts val="200"/>
              </a:spcAft>
              <a:defRPr sz="400" b="0">
                <a:solidFill>
                  <a:srgbClr val="6B7A99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▸ End-to-end pipeline — ingest → classify → draft → report</a:t>
            </a:r>
          </a:p>
          <a:p>
            <a:pPr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▸ 29 category × audience response templates</a:t>
            </a:r>
          </a:p>
          <a:p>
            <a:pPr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▸ Sentiment trend analysis — daily / weekly / monthly / quarterly</a:t>
            </a:r>
          </a:p>
          <a:p>
            <a:pPr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▸ ROI calculator with real AWS pricing (Bedrock, Comprehend)</a:t>
            </a:r>
          </a:p>
          <a:p>
            <a:pPr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▸ Multi-format report export — MD, HTML, DOCX, PDF</a:t>
            </a:r>
          </a:p>
          <a:p>
            <a:pPr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▸ Live data refresh — RSS feeds fetched on demand</a:t>
            </a:r>
          </a:p>
          <a:p>
            <a:pPr>
              <a:spcAft>
                <a:spcPts val="200"/>
              </a:spcAft>
              <a:defRPr sz="900" b="0">
                <a:solidFill>
                  <a:srgbClr val="6B7A99"/>
                </a:solidFill>
                <a:latin typeface="Calibri"/>
              </a:defRPr>
            </a:pPr>
            <a:r>
              <a:t>▸ Synthetic data generation via Bedrock for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977639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A951"/>
                </a:solidFill>
                <a:latin typeface="Calibri"/>
              </a:defRPr>
            </a:pPr>
            <a:r>
              <a:t>TECHNICAL METRICS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206240"/>
            <a:ext cx="141732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2519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A1628"/>
                </a:solidFill>
                <a:latin typeface="Calibri"/>
              </a:defRPr>
            </a:pPr>
            <a:r>
              <a:t>4,000+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6451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A99"/>
                </a:solidFill>
                <a:latin typeface="Calibri"/>
              </a:defRPr>
            </a:pPr>
            <a:r>
              <a:t>Lines of Code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65960" y="4206240"/>
            <a:ext cx="141732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65960" y="42519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65A6"/>
                </a:solidFill>
                <a:latin typeface="Calibri"/>
              </a:defRPr>
            </a:pPr>
            <a:r>
              <a:t>15+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46451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A99"/>
                </a:solidFill>
                <a:latin typeface="Calibri"/>
              </a:defRPr>
            </a:pPr>
            <a:r>
              <a:t>Interactive Pages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66160" y="4206240"/>
            <a:ext cx="141732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0" y="42519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990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46451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A99"/>
                </a:solidFill>
                <a:latin typeface="Calibri"/>
              </a:defRPr>
            </a:pPr>
            <a:r>
              <a:t>AWS Services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66360" y="4206240"/>
            <a:ext cx="141732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42519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32F3E"/>
                </a:solidFill>
                <a:latin typeface="Calibri"/>
              </a:defRPr>
            </a:pPr>
            <a:r>
              <a:t>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360" y="46451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A99"/>
                </a:solidFill>
                <a:latin typeface="Calibri"/>
              </a:defRPr>
            </a:pPr>
            <a:r>
              <a:t>Response Templates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66560" y="4206240"/>
            <a:ext cx="141732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42519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E7D32"/>
                </a:solidFill>
                <a:latin typeface="Calibri"/>
              </a:defRPr>
            </a:pPr>
            <a:r>
              <a:t>13+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6451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A99"/>
                </a:solidFill>
                <a:latin typeface="Calibri"/>
              </a:defRPr>
            </a:pPr>
            <a:r>
              <a:t>RSS Feed Sources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66760" y="4206240"/>
            <a:ext cx="141732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60" y="42519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897B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6451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A99"/>
                </a:solidFill>
                <a:latin typeface="Calibri"/>
              </a:defRPr>
            </a:pPr>
            <a:r>
              <a:t>Inquiry Categories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66960" y="4206240"/>
            <a:ext cx="141732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66960" y="42519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62828"/>
                </a:solidFill>
                <a:latin typeface="Calibri"/>
              </a:defRPr>
            </a:pPr>
            <a:r>
              <a:t>&lt; $30/mo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46451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A99"/>
                </a:solidFill>
                <a:latin typeface="Calibri"/>
              </a:defRPr>
            </a:pPr>
            <a:r>
              <a:t>Total AWS Cost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51663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A951"/>
                </a:solidFill>
                <a:latin typeface="Calibri"/>
              </a:defRPr>
            </a:pPr>
            <a:r>
              <a:t>INTEGRATION FLOW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5394960"/>
            <a:ext cx="1645920" cy="77724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5468112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📥 Inquiries</a:t>
            </a:r>
            <a:br/>
            <a:r>
              <a:t>+ RSS Feeds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03120" y="55321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8A95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560320" y="5394960"/>
            <a:ext cx="1645920" cy="777240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60320" y="5468112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🔍 Comprehend</a:t>
            </a:r>
            <a:br/>
            <a:r>
              <a:t>Classify + Sentiment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80" y="55321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8A95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754880" y="5394960"/>
            <a:ext cx="1645920" cy="777240"/>
          </a:xfrm>
          <a:prstGeom prst="round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4880" y="5468112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✍️ Bedrock Claude</a:t>
            </a:r>
            <a:br/>
            <a:r>
              <a:t>Draft + Report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55321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8A95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949440" y="5394960"/>
            <a:ext cx="1645920" cy="7772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49440" y="5468112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👤 Human Review</a:t>
            </a:r>
            <a:br/>
            <a:r>
              <a:t>Approve / Edit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55321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8A95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44000" y="5394960"/>
            <a:ext cx="1645920" cy="777240"/>
          </a:xfrm>
          <a:prstGeom prst="roundRect">
            <a:avLst/>
          </a:prstGeom>
          <a:solidFill>
            <a:srgbClr val="1B6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0" y="5468112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📊 Dashboard</a:t>
            </a:r>
            <a:br/>
            <a:r>
              <a:t>Insights + Alerts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81360" y="55321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8A95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338560" y="5394960"/>
            <a:ext cx="1645920" cy="777240"/>
          </a:xfrm>
          <a:prstGeom prst="roundRect">
            <a:avLst/>
          </a:prstGeom>
          <a:solidFill>
            <a:srgbClr val="6B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338560" y="5468112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📋 Audit Log</a:t>
            </a:r>
            <a:br/>
            <a:r>
              <a:t>Full Traceability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A951"/>
                </a:solidFill>
                <a:latin typeface="Calibri"/>
              </a:defRPr>
            </a:pPr>
            <a:r>
              <a:t>FRBSF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Responsible AI &amp;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A99"/>
                </a:solidFill>
                <a:latin typeface="Calibri"/>
              </a:defRPr>
            </a:pPr>
            <a:r>
              <a:t>Built-in guardrails, transparency, and human oversight at every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A99"/>
                </a:solidFill>
                <a:latin typeface="Calibri"/>
              </a:defRPr>
            </a:pPr>
            <a:r>
              <a:t>Federal Reserve Bank of San Francisco  ·  AI Communications Intelligence System  ·  Amazon Comprehend + Bedrock (Claude)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A951"/>
                </a:solidFill>
                <a:latin typeface="Calibri"/>
              </a:defRPr>
            </a:pPr>
            <a:r>
              <a:t>9 ACTIVE GUARDRAILS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783080"/>
            <a:ext cx="5486400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0136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E7D32"/>
                </a:solidFill>
                <a:latin typeface="Calibri"/>
              </a:defRPr>
            </a:pPr>
            <a:r>
              <a:t>✓  Human-in-the-Loop</a:t>
            </a:r>
          </a:p>
          <a:p>
            <a:pPr>
              <a:spcAft>
                <a:spcPts val="20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No auto-send path exists. Every AI draft requires human review and approval before sending.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295144"/>
            <a:ext cx="5486400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313432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E7D32"/>
                </a:solidFill>
                <a:latin typeface="Calibri"/>
              </a:defRPr>
            </a:pPr>
            <a:r>
              <a:t>✓  Closed Label Set</a:t>
            </a:r>
          </a:p>
          <a:p>
            <a:pPr>
              <a:spcAft>
                <a:spcPts val="20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Classifier uses a fixed set of 10 categories — unknown inputs map to 'other'. No hallucinated categories.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807208"/>
            <a:ext cx="5486400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825496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E7D32"/>
                </a:solidFill>
                <a:latin typeface="Calibri"/>
              </a:defRPr>
            </a:pPr>
            <a:r>
              <a:t>✓  Prompt Templating</a:t>
            </a:r>
          </a:p>
          <a:p>
            <a:pPr>
              <a:spcAft>
                <a:spcPts val="20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User input is never concatenated into prompts. All Bedrock prompts use structured templates with clear boundaries.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319272"/>
            <a:ext cx="5486400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3756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E7D32"/>
                </a:solidFill>
                <a:latin typeface="Calibri"/>
              </a:defRPr>
            </a:pPr>
            <a:r>
              <a:t>✓  Template-Guided Output</a:t>
            </a:r>
          </a:p>
          <a:p>
            <a:pPr>
              <a:spcAft>
                <a:spcPts val="20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29 category × audience templates enforce tone, structure, and compliance for every response.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831336"/>
            <a:ext cx="5486400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849624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9900"/>
                </a:solidFill>
                <a:latin typeface="Calibri"/>
              </a:defRPr>
            </a:pPr>
            <a:r>
              <a:t>✓  Confidence Thresholds</a:t>
            </a:r>
          </a:p>
          <a:p>
            <a:pPr>
              <a:spcAft>
                <a:spcPts val="20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Inquiries below 60% confidence are flagged and cannot be auto-routed. Low confidence → mandatory human review.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343400"/>
            <a:ext cx="5486400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36168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E7D32"/>
                </a:solidFill>
                <a:latin typeface="Calibri"/>
              </a:defRPr>
            </a:pPr>
            <a:r>
              <a:t>✓  Full Audit Trail</a:t>
            </a:r>
          </a:p>
          <a:p>
            <a:pPr>
              <a:spcAft>
                <a:spcPts val="20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Every AI action logged with timestamp, model ID, input summary, and output summary. Complete traceability.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855464"/>
            <a:ext cx="5486400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873752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F9900"/>
                </a:solidFill>
                <a:latin typeface="Calibri"/>
              </a:defRPr>
            </a:pPr>
            <a:r>
              <a:t>✓  Bias Disclosure</a:t>
            </a:r>
          </a:p>
          <a:p>
            <a:pPr>
              <a:spcAft>
                <a:spcPts val="20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Users are warned that sentiment models may reflect training bias. Results should be interpreted with domain expertise.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5367528"/>
            <a:ext cx="5486400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385816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E7D32"/>
                </a:solidFill>
                <a:latin typeface="Calibri"/>
              </a:defRPr>
            </a:pPr>
            <a:r>
              <a:t>✓  No PII Processing</a:t>
            </a:r>
          </a:p>
          <a:p>
            <a:pPr>
              <a:spcAft>
                <a:spcPts val="20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System does not store or process personally identifiable information.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5879592"/>
            <a:ext cx="5486400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89788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62828"/>
                </a:solidFill>
                <a:latin typeface="Calibri"/>
              </a:defRPr>
            </a:pPr>
            <a:r>
              <a:t>✓  No Policy Predictions</a:t>
            </a:r>
          </a:p>
          <a:p>
            <a:pPr>
              <a:spcAft>
                <a:spcPts val="20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AI is explicitly instructed to never make monetary policy predictions or provide financial advice.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15087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A951"/>
                </a:solidFill>
                <a:latin typeface="Calibri"/>
              </a:defRPr>
            </a:pPr>
            <a:r>
              <a:t>LIVE MONITORING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1783080"/>
            <a:ext cx="56692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182880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C62828"/>
                </a:solidFill>
                <a:latin typeface="Calibri"/>
              </a:defRPr>
            </a:pPr>
            <a:r>
              <a:t>🛡️  Trust &amp; Safety Dashboard</a:t>
            </a:r>
          </a:p>
          <a:p>
            <a:pPr>
              <a:spcAft>
                <a:spcPts val="200"/>
              </a:spcAft>
              <a:defRPr sz="900" b="0">
                <a:solidFill>
                  <a:srgbClr val="6B7A99"/>
                </a:solidFill>
                <a:latin typeface="Calibri"/>
              </a:defRPr>
            </a:pPr>
            <a:r>
              <a:t>Real-time system health — no mocks, all live data</a:t>
            </a:r>
          </a:p>
          <a:p>
            <a:pPr>
              <a:spcAft>
                <a:spcPts val="200"/>
              </a:spcAft>
              <a:defRPr sz="400" b="0">
                <a:solidFill>
                  <a:srgbClr val="6B7A99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▸ AWS Service Status — Bedrock, Comprehend, S3, CloudWatch, Secrets Manager</a:t>
            </a:r>
          </a:p>
          <a:p>
            <a:pPr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▸ Classification Confidence Distribution — High / Medium / Low buckets</a:t>
            </a:r>
          </a:p>
          <a:p>
            <a:pPr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▸ Auto-refreshes every 10 seconds via callback (responsive metrics)</a:t>
            </a:r>
          </a:p>
          <a:p>
            <a:pPr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▸ Guardrail Details — expandable view with implementation notes</a:t>
            </a:r>
          </a:p>
          <a:p>
            <a:pPr>
              <a:spcAft>
                <a:spcPts val="200"/>
              </a:spcAft>
              <a:defRPr sz="900" b="0">
                <a:solidFill>
                  <a:srgbClr val="0A1628"/>
                </a:solidFill>
                <a:latin typeface="Calibri"/>
              </a:defRPr>
            </a:pPr>
            <a:r>
              <a:t>▸ Audit Trail Health — action counts by type (drafts, reports, risks)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374903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A951"/>
                </a:solidFill>
                <a:latin typeface="Calibri"/>
              </a:defRPr>
            </a:pPr>
            <a:r>
              <a:t>GOVERNANCE MODEL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4023360"/>
            <a:ext cx="56692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406908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🔒  Access Control</a:t>
            </a:r>
          </a:p>
          <a:p>
            <a:pPr>
              <a:spcAft>
                <a:spcPts val="20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IAM roles with least-privilege policies. Comprehend and Bedrock access scoped to specific API actions only.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445312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📋  Audit &amp; Compliance</a:t>
            </a:r>
          </a:p>
          <a:p>
            <a:pPr>
              <a:spcAft>
                <a:spcPts val="20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Every Bedrock invocation logged: model ID, token count, input/output summary. Exportable audit log (JSON).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483717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📊  Explainability</a:t>
            </a:r>
          </a:p>
          <a:p>
            <a:pPr>
              <a:spcAft>
                <a:spcPts val="20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Confidence scores, key phrases, and sentiment breakdowns surfaced alongside every classification.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522122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⚖️  Fairness</a:t>
            </a:r>
          </a:p>
          <a:p>
            <a:pPr>
              <a:spcAft>
                <a:spcPts val="20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Sentiment models flagged for potential bias. Users instructed to apply domain expertise to AI outputs.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560527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🔄  Model Flexibility</a:t>
            </a:r>
          </a:p>
          <a:p>
            <a:pPr>
              <a:spcAft>
                <a:spcPts val="20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Configurable model selection (Claude 3.5 Sonnet, Sonnet, Haiku, Instant). No vendor lock-in to a single model.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598932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📥  Data Sovereignty</a:t>
            </a:r>
          </a:p>
          <a:p>
            <a:pPr>
              <a:spcAft>
                <a:spcPts val="20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All data processed in us-east-1. No data leaves the AWS account. No third-party APIs for core functionality.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A951"/>
                </a:solidFill>
                <a:latin typeface="Calibri"/>
              </a:defRPr>
            </a:pPr>
            <a:r>
              <a:t>FRBSF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Future Enhancements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A99"/>
                </a:solidFill>
                <a:latin typeface="Calibri"/>
              </a:defRPr>
            </a:pPr>
            <a:r>
              <a:t>Roadmap for scaling the platform from prototype to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A99"/>
                </a:solidFill>
                <a:latin typeface="Calibri"/>
              </a:defRPr>
            </a:pPr>
            <a:r>
              <a:t>Federal Reserve Bank of San Francisco  ·  AI Communications Intelligence System  ·  Amazon Comprehend + Bedrock (Claude)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Calibri"/>
              </a:defRPr>
            </a:pPr>
            <a:r>
              <a:t>PHASE 1  ·  NEAR-TERM (0–3 MONTHS)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783080"/>
            <a:ext cx="356616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3291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2E7D32"/>
                </a:solidFill>
                <a:latin typeface="Calibri"/>
              </a:defRPr>
            </a:pPr>
            <a:r>
              <a:t>🚀  Quick Wins</a:t>
            </a:r>
          </a:p>
          <a:p>
            <a:pPr>
              <a:spcAft>
                <a:spcPts val="200"/>
              </a:spcAft>
              <a:defRPr sz="400" b="0">
                <a:solidFill>
                  <a:srgbClr val="6B7A99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▸ Email Integration</a:t>
            </a:r>
          </a:p>
          <a:p>
            <a:pPr>
              <a:spcAft>
                <a:spcPts val="20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Connect to FRBSF email system for auto-ingestion of inquiries. SES or Exchange connector.</a:t>
            </a:r>
          </a:p>
          <a:p>
            <a:pPr>
              <a:spcAft>
                <a:spcPts val="200"/>
              </a:spcAft>
              <a:defRPr sz="400" b="0">
                <a:solidFill>
                  <a:srgbClr val="6B7A99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▸ User Authentication</a:t>
            </a:r>
          </a:p>
          <a:p>
            <a:pPr>
              <a:spcAft>
                <a:spcPts val="20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Add Cognito / SSO login with role-based access (officer, manager, admin).</a:t>
            </a:r>
          </a:p>
          <a:p>
            <a:pPr>
              <a:spcAft>
                <a:spcPts val="200"/>
              </a:spcAft>
              <a:defRPr sz="400" b="0">
                <a:solidFill>
                  <a:srgbClr val="6B7A99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▸ Response Approval Workflow</a:t>
            </a:r>
          </a:p>
          <a:p>
            <a:pPr>
              <a:spcAft>
                <a:spcPts val="20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Multi-step approval: draft → review → approve → send. Track status per inquiry.</a:t>
            </a:r>
          </a:p>
          <a:p>
            <a:pPr>
              <a:spcAft>
                <a:spcPts val="200"/>
              </a:spcAft>
              <a:defRPr sz="400" b="0">
                <a:solidFill>
                  <a:srgbClr val="6B7A99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▸ CloudWatch Integration</a:t>
            </a:r>
          </a:p>
          <a:p>
            <a:pPr>
              <a:spcAft>
                <a:spcPts val="20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Push audit logs to CloudWatch Logs. Create dashboards for AI usage metrics.</a:t>
            </a:r>
          </a:p>
          <a:p>
            <a:pPr>
              <a:spcAft>
                <a:spcPts val="200"/>
              </a:spcAft>
              <a:defRPr sz="400" b="0">
                <a:solidFill>
                  <a:srgbClr val="6B7A99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▸ Automated Scheduling</a:t>
            </a:r>
          </a:p>
          <a:p>
            <a:pPr>
              <a:spcAft>
                <a:spcPts val="20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EventBridge rules to auto-fetch RSS feeds and generate weekly insight reports.</a:t>
            </a:r>
          </a:p>
          <a:p>
            <a:pPr>
              <a:spcAft>
                <a:spcPts val="200"/>
              </a:spcAft>
              <a:defRPr sz="400" b="0">
                <a:solidFill>
                  <a:srgbClr val="6B7A99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▸ Mobile-Responsive UI</a:t>
            </a:r>
          </a:p>
          <a:p>
            <a:pPr>
              <a:spcAft>
                <a:spcPts val="20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Optimize Dash layout for tablet and mobile access by leadership.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15087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65A6"/>
                </a:solidFill>
                <a:latin typeface="Calibri"/>
              </a:defRPr>
            </a:pPr>
            <a:r>
              <a:t>PHASE 2  ·  MID-TERM (3–6 MONTHS)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783080"/>
            <a:ext cx="356616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828800"/>
            <a:ext cx="3291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B65A6"/>
                </a:solidFill>
                <a:latin typeface="Calibri"/>
              </a:defRPr>
            </a:pPr>
            <a:r>
              <a:t>⚡  Scale &amp; Intelligence</a:t>
            </a:r>
          </a:p>
          <a:p>
            <a:pPr>
              <a:spcAft>
                <a:spcPts val="200"/>
              </a:spcAft>
              <a:defRPr sz="400" b="0">
                <a:solidFill>
                  <a:srgbClr val="6B7A99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▸ Custom Comprehend Model</a:t>
            </a:r>
          </a:p>
          <a:p>
            <a:pPr>
              <a:spcAft>
                <a:spcPts val="20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Train a custom classifier on FRBSF-specific categories for higher accuracy than keyword matching.</a:t>
            </a:r>
          </a:p>
          <a:p>
            <a:pPr>
              <a:spcAft>
                <a:spcPts val="200"/>
              </a:spcAft>
              <a:defRPr sz="400" b="0">
                <a:solidFill>
                  <a:srgbClr val="6B7A99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▸ Knowledge Base (RAG)</a:t>
            </a:r>
          </a:p>
          <a:p>
            <a:pPr>
              <a:spcAft>
                <a:spcPts val="20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Bedrock Knowledge Base with FRBSF policy docs, FAQs, and past responses for grounded drafting.</a:t>
            </a:r>
          </a:p>
          <a:p>
            <a:pPr>
              <a:spcAft>
                <a:spcPts val="200"/>
              </a:spcAft>
              <a:defRPr sz="400" b="0">
                <a:solidFill>
                  <a:srgbClr val="6B7A99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▸ Multi-Language Support</a:t>
            </a:r>
          </a:p>
          <a:p>
            <a:pPr>
              <a:spcAft>
                <a:spcPts val="20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Comprehend language detection + Bedrock translation for Spanish, Chinese, and other languages.</a:t>
            </a:r>
          </a:p>
          <a:p>
            <a:pPr>
              <a:spcAft>
                <a:spcPts val="200"/>
              </a:spcAft>
              <a:defRPr sz="400" b="0">
                <a:solidFill>
                  <a:srgbClr val="6B7A99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▸ Predictive Analytics</a:t>
            </a:r>
          </a:p>
          <a:p>
            <a:pPr>
              <a:spcAft>
                <a:spcPts val="20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Forecast inquiry volume spikes around FOMC meetings using historical patterns.</a:t>
            </a:r>
          </a:p>
          <a:p>
            <a:pPr>
              <a:spcAft>
                <a:spcPts val="200"/>
              </a:spcAft>
              <a:defRPr sz="400" b="0">
                <a:solidFill>
                  <a:srgbClr val="6B7A99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▸ DynamoDB Backend</a:t>
            </a:r>
          </a:p>
          <a:p>
            <a:pPr>
              <a:spcAft>
                <a:spcPts val="20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Replace in-memory data with DynamoDB for persistence, multi-user support, and scalability.</a:t>
            </a:r>
          </a:p>
          <a:p>
            <a:pPr>
              <a:spcAft>
                <a:spcPts val="200"/>
              </a:spcAft>
              <a:defRPr sz="400" b="0">
                <a:solidFill>
                  <a:srgbClr val="6B7A99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▸ API Gateway + Lambda</a:t>
            </a:r>
          </a:p>
          <a:p>
            <a:pPr>
              <a:spcAft>
                <a:spcPts val="20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Expose classification and drafting as REST APIs for integration with other Fed systems.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150876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A1B9A"/>
                </a:solidFill>
                <a:latin typeface="Calibri"/>
              </a:defRPr>
            </a:pPr>
            <a:r>
              <a:t>PHASE 3  ·  LONG-TERM (6–12 MONTHS)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783080"/>
            <a:ext cx="38404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1828800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6A1B9A"/>
                </a:solidFill>
                <a:latin typeface="Calibri"/>
              </a:defRPr>
            </a:pPr>
            <a:r>
              <a:t>🌐  Enterprise Platform</a:t>
            </a:r>
          </a:p>
          <a:p>
            <a:pPr>
              <a:spcAft>
                <a:spcPts val="200"/>
              </a:spcAft>
              <a:defRPr sz="400" b="0">
                <a:solidFill>
                  <a:srgbClr val="6B7A99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▸ Multi-District Deployment</a:t>
            </a:r>
          </a:p>
          <a:p>
            <a:pPr>
              <a:spcAft>
                <a:spcPts val="20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Extend to other Federal Reserve Banks. Shared infrastructure, district-specific models.</a:t>
            </a:r>
          </a:p>
          <a:p>
            <a:pPr>
              <a:spcAft>
                <a:spcPts val="200"/>
              </a:spcAft>
              <a:defRPr sz="400" b="0">
                <a:solidFill>
                  <a:srgbClr val="6B7A99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▸ Real-Time Streaming</a:t>
            </a:r>
          </a:p>
          <a:p>
            <a:pPr>
              <a:spcAft>
                <a:spcPts val="20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Kinesis Data Streams for real-time social media monitoring and instant alert generation.</a:t>
            </a:r>
          </a:p>
          <a:p>
            <a:pPr>
              <a:spcAft>
                <a:spcPts val="200"/>
              </a:spcAft>
              <a:defRPr sz="400" b="0">
                <a:solidFill>
                  <a:srgbClr val="6B7A99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▸ Fine-Tuned Foundation Model</a:t>
            </a:r>
          </a:p>
          <a:p>
            <a:pPr>
              <a:spcAft>
                <a:spcPts val="20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Fine-tune Claude on FRBSF communication style for more authentic, on-brand responses.</a:t>
            </a:r>
          </a:p>
          <a:p>
            <a:pPr>
              <a:spcAft>
                <a:spcPts val="200"/>
              </a:spcAft>
              <a:defRPr sz="400" b="0">
                <a:solidFill>
                  <a:srgbClr val="6B7A99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▸ Automated Response Sending</a:t>
            </a:r>
          </a:p>
          <a:p>
            <a:pPr>
              <a:spcAft>
                <a:spcPts val="20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With sufficient guardrails and confidence, enable auto-send for high-confidence, low-risk inquiries.</a:t>
            </a:r>
          </a:p>
          <a:p>
            <a:pPr>
              <a:spcAft>
                <a:spcPts val="200"/>
              </a:spcAft>
              <a:defRPr sz="400" b="0">
                <a:solidFill>
                  <a:srgbClr val="6B7A99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▸ Advanced Analytics</a:t>
            </a:r>
          </a:p>
          <a:p>
            <a:pPr>
              <a:spcAft>
                <a:spcPts val="20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Bedrock Agents for complex multi-step analysis. Correlation between sentiment and market data.</a:t>
            </a:r>
          </a:p>
          <a:p>
            <a:pPr>
              <a:spcAft>
                <a:spcPts val="200"/>
              </a:spcAft>
              <a:defRPr sz="400" b="0">
                <a:solidFill>
                  <a:srgbClr val="6B7A99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 b="1">
                <a:solidFill>
                  <a:srgbClr val="0A1628"/>
                </a:solidFill>
                <a:latin typeface="Calibri"/>
              </a:defRPr>
            </a:pPr>
            <a:r>
              <a:t>▸ FedRAMP Compliance</a:t>
            </a:r>
          </a:p>
          <a:p>
            <a:pPr>
              <a:spcAft>
                <a:spcPts val="200"/>
              </a:spcAft>
              <a:defRPr sz="800" b="0">
                <a:solidFill>
                  <a:srgbClr val="6B7A99"/>
                </a:solidFill>
                <a:latin typeface="Calibri"/>
              </a:defRPr>
            </a:pPr>
            <a:r>
              <a:t>Full security assessment for production deployment within Federal Reserve infrastructure.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035040"/>
            <a:ext cx="11430000" cy="36576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0624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Vision:  From prototype to the Federal Reserve's standard AI-powered communications platform — secure, scalable, and responsible.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