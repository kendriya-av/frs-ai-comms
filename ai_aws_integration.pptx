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A951"/>
                </a:solidFill>
                <a:latin typeface="Calibri"/>
              </a:defRPr>
            </a:pPr>
            <a:r>
              <a:t>FRBSF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&amp; AWS Integration — Communications Intelligence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9"/>
                </a:solidFill>
                <a:latin typeface="Calibri"/>
              </a:defRPr>
            </a:pPr>
            <a:r>
              <a:t>How Amazon Comprehend, Amazon Bedrock (Claude), and AWS infrastructure power end-to-end communications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AI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8308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3832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200" b="1">
                <a:solidFill>
                  <a:srgbClr val="FF9900"/>
                </a:solidFill>
                <a:latin typeface="Calibri"/>
              </a:defRPr>
            </a:pPr>
            <a:r>
              <a:t>🧠  Amazon Comprehend</a:t>
            </a:r>
          </a:p>
          <a:p>
            <a:pPr>
              <a:spcAft>
                <a:spcPts val="20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Natural Language Processing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Sentiment Analysis — positive / negative / neutral / mixed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Text Classification — 10 inquiry categories with confidence %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Key Phrase Extraction — auto-tags for routing &amp; search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Entity Detection — identifies people, orgs, dates, amounts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38328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33832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200" b="1">
                <a:solidFill>
                  <a:srgbClr val="232F3E"/>
                </a:solidFill>
                <a:latin typeface="Calibri"/>
              </a:defRPr>
            </a:pPr>
            <a:r>
              <a:t>🤖  Amazon Bedrock (Claude 3)</a:t>
            </a:r>
          </a:p>
          <a:p>
            <a:pPr>
              <a:spcAft>
                <a:spcPts val="20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Large Language Model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Response Drafting — template-guided, audience-aware drafts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Insights Reports — executive summaries with risk areas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Risk Detection — identifies misinformation &amp; negative trends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Data Generation — synthetic test data for all categories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• 29 category × audience templates enforce tone &amp;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DATA FLOW &amp;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783080"/>
            <a:ext cx="365760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74519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📥  INGEST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Inquiries (email, web, phone)</a:t>
            </a:r>
            <a:br/>
            <a:r>
              <a:t>RSS feeds (13+ outlets)</a:t>
            </a:r>
            <a:br/>
            <a:r>
              <a:t>Uploaded / generated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37743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A951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78607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000" b="1">
                <a:solidFill>
                  <a:srgbClr val="FF9900"/>
                </a:solidFill>
                <a:latin typeface="Calibri"/>
              </a:defRPr>
            </a:pPr>
            <a:r>
              <a:t>🔍  CLASSIFY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Comprehend: sentiment + category</a:t>
            </a:r>
            <a:br/>
            <a:r>
              <a:t>Confidence scoring (High/Med/Low)</a:t>
            </a:r>
            <a:br/>
            <a:r>
              <a:t>Key phrase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08152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A951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82695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000" b="1">
                <a:solidFill>
                  <a:srgbClr val="232F3E"/>
                </a:solidFill>
                <a:latin typeface="Calibri"/>
              </a:defRPr>
            </a:pPr>
            <a:r>
              <a:t>✍️  DRAFT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Bedrock Claude: template-guided</a:t>
            </a:r>
            <a:br/>
            <a:r>
              <a:t>Audience-aware (public/media/stakeholder)</a:t>
            </a:r>
            <a:br/>
            <a:r>
              <a:t>Human review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78561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A951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86783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📊  ANALYZE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Sentiment trends over time</a:t>
            </a:r>
            <a:br/>
            <a:r>
              <a:t>Risk &amp; negative alerts</a:t>
            </a:r>
            <a:br/>
            <a:r>
              <a:t>Topic distribution &amp; word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48970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A951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90871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000" b="1">
                <a:solidFill>
                  <a:srgbClr val="1B65A6"/>
                </a:solidFill>
                <a:latin typeface="Calibri"/>
              </a:defRPr>
            </a:pPr>
            <a:r>
              <a:t>📈  REPORT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AI-generated executive insights</a:t>
            </a:r>
            <a:br/>
            <a:r>
              <a:t>Download: MD / HTML / DOCX / PDF</a:t>
            </a:r>
            <a:br/>
            <a:r>
              <a:t>Full audit trail logged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AWS INFRASTRUCTURE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783080"/>
            <a:ext cx="3657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828800"/>
            <a:ext cx="33832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1B65A6"/>
                </a:solidFill>
                <a:latin typeface="Calibri"/>
              </a:defRPr>
            </a:pPr>
            <a:r>
              <a:t>☁️  Deployment Architecture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App Runner — managed container hosting (HTTPS)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ECR — Docker image registry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CodeBuild — CI/CD (source → Docker → ECR → deploy)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S3 — source artifact storage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IAM — 3 roles (CodeBuild, ECR Access, Task Role)</a:t>
            </a:r>
          </a:p>
          <a:p>
            <a:pPr>
              <a:spcAft>
                <a:spcPts val="20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▸ Region: us-east-1  |  No Docker needed locally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520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RESPONSIBLE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94760"/>
            <a:ext cx="3657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840480"/>
            <a:ext cx="338328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C62828"/>
                </a:solidFill>
                <a:latin typeface="Calibri"/>
              </a:defRPr>
            </a:pPr>
            <a:r>
              <a:t>🛡️  Trust &amp; Safety Guardrails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✓ Human-in-the-loop — no auto-send path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✓ 9 active guardrails with live monitoring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✓ No policy predictions or financial advice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✓ Full audit trail — every AI action logged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✓ Confidence thresholds — low conf → mandatory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303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394960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468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1628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A99"/>
                </a:solidFill>
                <a:latin typeface="Calibri"/>
              </a:defRPr>
            </a:pPr>
            <a:r>
              <a:t>App Pages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0" y="5394960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0" y="5468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90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A99"/>
                </a:solidFill>
                <a:latin typeface="Calibri"/>
              </a:defRPr>
            </a:pPr>
            <a:r>
              <a:t>Inquiry Categories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5394960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5468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A99"/>
                </a:solidFill>
                <a:latin typeface="Calibri"/>
              </a:defRPr>
            </a:pPr>
            <a:r>
              <a:t>Response Templates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0" y="5394960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5468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13+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A99"/>
                </a:solidFill>
                <a:latin typeface="Calibri"/>
              </a:defRPr>
            </a:pPr>
            <a:r>
              <a:t>News Outlets (RSS)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49440" y="5394960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5468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65A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A99"/>
                </a:solidFill>
                <a:latin typeface="Calibri"/>
              </a:defRPr>
            </a:pPr>
            <a:r>
              <a:t>Download Formats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5394960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5468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6282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A99"/>
                </a:solidFill>
                <a:latin typeface="Calibri"/>
              </a:defRPr>
            </a:pPr>
            <a:r>
              <a:t>AI Guardrails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5394960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0" y="5468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65A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A99"/>
                </a:solidFill>
                <a:latin typeface="Calibri"/>
              </a:defRPr>
            </a:pPr>
            <a:r>
              <a:t>AWS AI/Infra 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Federal Reserve Bank of San Francisco  ·  External Communications  ·  AI Communications Intelligence System  ·  Powered by Amazon Comprehend + Bedrock (Claude)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